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566160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3566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3566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529584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</a:rPr>
              <a:t>Network Intrusion Detection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</a:rPr>
              <a:t>Using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8"/>
            <a:ext cx="438912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1579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</a:rPr>
              <a:t>Detecting Normal vs. Attack Network Traffic  |  NSL-KDD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786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Logistic Regression  ·  Decision Tree  ·  Random Forest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49039"/>
            <a:ext cx="3749039" cy="1508760"/>
          </a:xfrm>
          <a:prstGeom prst="rect">
            <a:avLst/>
          </a:prstGeom>
          <a:solidFill>
            <a:srgbClr val="1E293B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3749039"/>
            <a:ext cx="3749039" cy="822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886200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dirty="0">
                <a:solidFill>
                  <a:srgbClr val="06B6D4"/>
                </a:solidFill>
              </a:rPr>
              <a:t>Name</a:t>
            </a:r>
            <a:endParaRPr sz="1400" b="1" i="0" dirty="0">
              <a:solidFill>
                <a:srgbClr val="06B6D4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4178808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1F5F9"/>
                </a:solidFill>
              </a:rPr>
              <a:t>SOURAV</a:t>
            </a:r>
            <a:endParaRPr sz="2800" b="1" i="0" dirty="0">
              <a:solidFill>
                <a:srgbClr val="F1F5F9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06824" y="3749039"/>
            <a:ext cx="3749039" cy="1508760"/>
          </a:xfrm>
          <a:prstGeom prst="rect">
            <a:avLst/>
          </a:prstGeom>
          <a:solidFill>
            <a:srgbClr val="1E293B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06824" y="3749039"/>
            <a:ext cx="3749039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9704" y="3886200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dirty="0">
                <a:solidFill>
                  <a:srgbClr val="3B82F6"/>
                </a:solidFill>
              </a:rPr>
              <a:t>Course</a:t>
            </a:r>
            <a:endParaRPr sz="1400" b="1" i="0" dirty="0">
              <a:solidFill>
                <a:srgbClr val="3B82F6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89704" y="4178808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1F5F9"/>
                </a:solidFill>
              </a:rPr>
              <a:t>Introduction to OSS</a:t>
            </a:r>
            <a:endParaRPr sz="2800" b="1" i="0" dirty="0">
              <a:solidFill>
                <a:srgbClr val="F1F5F9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47888" y="3749039"/>
            <a:ext cx="3749039" cy="1508760"/>
          </a:xfrm>
          <a:prstGeom prst="rect">
            <a:avLst/>
          </a:prstGeom>
          <a:solidFill>
            <a:srgbClr val="1E293B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47888" y="3749039"/>
            <a:ext cx="3749039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30766" y="3886200"/>
            <a:ext cx="38497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dirty="0">
                <a:solidFill>
                  <a:srgbClr val="22C55E"/>
                </a:solidFill>
              </a:rPr>
              <a:t>Professor</a:t>
            </a:r>
            <a:endParaRPr sz="1400" b="1" i="0" dirty="0">
              <a:solidFill>
                <a:srgbClr val="22C55E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30767" y="4178808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1F5F9"/>
                </a:solidFill>
              </a:rPr>
              <a:t>JUNAID RASHID</a:t>
            </a:r>
            <a:endParaRPr sz="2800" b="1" i="0" dirty="0">
              <a:solidFill>
                <a:srgbClr val="F1F5F9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7744" y="6336792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Introduction to Open Source Software  ·  Sejong University  ·  Instructor: Junaid Rashid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889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46304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"/>
            <a:ext cx="11064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</a:rPr>
              <a:t>Why Do We Need Intrusion Detection?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86968"/>
            <a:ext cx="11457432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86968"/>
            <a:ext cx="109728" cy="7498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950976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BD5E1"/>
                </a:solidFill>
              </a:rPr>
              <a:t>"Can a machine automatically tell the difference between normal traffic and an attack?"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64792"/>
            <a:ext cx="5559552" cy="1389888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764792"/>
            <a:ext cx="91440" cy="13898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202082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1F5F9"/>
                </a:solidFill>
              </a:rPr>
              <a:t>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9019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Millions of packets per second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3317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Too much traffic for humans to inspect manually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1764792"/>
            <a:ext cx="5559552" cy="1389888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91072" y="1764792"/>
            <a:ext cx="91440" cy="13898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02082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1F5F9"/>
                </a:solidFill>
              </a:rPr>
              <a:t>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9019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Attacks are growing rapidly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3317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DoS, Probe, R2L, U2R — new threats emerge daily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37560"/>
            <a:ext cx="5559552" cy="1389888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337560"/>
            <a:ext cx="91440" cy="13898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5935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1F5F9"/>
                </a:solidFill>
              </a:rPr>
              <a:t>👁️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Manual inspection is slow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904487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Security teams cannot review every log by hand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3337560"/>
            <a:ext cx="5559552" cy="1389888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91072" y="3337560"/>
            <a:ext cx="91440" cy="13898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35935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1F5F9"/>
                </a:solidFill>
              </a:rPr>
              <a:t>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ML detects threats automatically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904487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Train once — classify millions of packets in real 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910328"/>
            <a:ext cx="5559552" cy="1389888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" y="4910328"/>
            <a:ext cx="91440" cy="13898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5166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1F5F9"/>
                </a:solidFill>
              </a:rPr>
              <a:t>🛡️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50474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IDS raises alerts instantly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" y="5477256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Flags suspicious connections before damage occurs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91072" y="4910328"/>
            <a:ext cx="5559552" cy="1389888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91072" y="4910328"/>
            <a:ext cx="91440" cy="13898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5166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1F5F9"/>
                </a:solidFill>
              </a:rP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0474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Our solution — binary classification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477256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Normal = 0   |   Attack = 1   using NSL-KDD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8895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46304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"/>
            <a:ext cx="11064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</a:rPr>
              <a:t>Project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5577840" cy="5596128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68680"/>
            <a:ext cx="557784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914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WHAT IT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53035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59105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</a:rP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591056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Loads &amp; preprocesses NSL-KDD 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21992"/>
            <a:ext cx="53035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3500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3500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Trains 3 machine learning classifiers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80944"/>
            <a:ext cx="53035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1089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Compares models &amp; selects the best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39896"/>
            <a:ext cx="53035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867911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</a:rPr>
              <a:t>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67911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Saves best model for future predictions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498848"/>
            <a:ext cx="53035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62686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</a:rPr>
              <a:t>🖼️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626864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Generates 6 visualisation charts (PNG)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257800"/>
            <a:ext cx="53035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38581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</a:rPr>
              <a:t>🖥️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385816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Interactive CLI for live predictions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5352" y="868680"/>
            <a:ext cx="5577840" cy="5596128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45352" y="868680"/>
            <a:ext cx="5577840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3952" y="914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TECH STACK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1463040"/>
            <a:ext cx="53035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82512" y="1463040"/>
            <a:ext cx="91440" cy="6583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01968" y="1536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Language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1810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Python 3.13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82512" y="2221992"/>
            <a:ext cx="53035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82512" y="2221992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01968" y="2295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Dataset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569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NSL-KDD  (auto-downloaded)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2512" y="2980944"/>
            <a:ext cx="53035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82512" y="2980944"/>
            <a:ext cx="91440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01968" y="30540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ML Library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1968" y="3328415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scikit-learn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2512" y="3739896"/>
            <a:ext cx="53035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82512" y="3739896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01968" y="3813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Charts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1968" y="40873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matplotlib + seaborn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82512" y="4498848"/>
            <a:ext cx="53035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382512" y="4498848"/>
            <a:ext cx="91440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01968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Saving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01968" y="4846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joblib  (model persistence)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82512" y="5257800"/>
            <a:ext cx="530352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382512" y="5257800"/>
            <a:ext cx="91440" cy="65836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01968" y="53309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Docs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1968" y="56052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README · LICENSE ·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88952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46304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"/>
            <a:ext cx="11064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</a:rPr>
              <a:t>Dataset — NSL-KDD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86968"/>
            <a:ext cx="3749039" cy="1600200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86968"/>
            <a:ext cx="3749039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B82F6"/>
                </a:solidFill>
              </a:rPr>
              <a:t>125,973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Training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KDDTrain+.txt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6824" y="886968"/>
            <a:ext cx="3749039" cy="1600200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6824" y="886968"/>
            <a:ext cx="3749039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9704" y="102412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7C3AED"/>
                </a:solidFill>
              </a:rPr>
              <a:t>22,544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16916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Testing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01168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KDDTest+.txt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47888" y="886968"/>
            <a:ext cx="3749039" cy="1600200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7888" y="886968"/>
            <a:ext cx="3749039" cy="822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0767" y="102412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</a:rPr>
              <a:t>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16916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7" y="201168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per record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606040"/>
            <a:ext cx="11457432" cy="658368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27157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  Each record = one network connection  ·  Features: duration · protocol · src_bytes · dst_bytes · error rates · connection counts 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01568"/>
            <a:ext cx="5394960" cy="3063240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3401568"/>
            <a:ext cx="91440" cy="3063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3493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ORIGINAL — 22+ ATTACK CLASSES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931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  ●  normal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931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Normal traffic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2428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  ○  neptune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424281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DoS attack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5537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  ○  portsweep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45537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Probe attack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8646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  ○  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48646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DoS attack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1755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  ○  satan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120" y="51755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Probe attack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486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  ○  warezclient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5486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R2L attack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7972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  ○  rootkit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579729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U2R attack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1081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○  ... +15 more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4663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3401568"/>
            <a:ext cx="5239512" cy="3063240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583680" y="3401568"/>
            <a:ext cx="91440" cy="3063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12280" y="34930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SIMPLIFIED — BINARY LABELS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48272" y="4005072"/>
            <a:ext cx="4892040" cy="96012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03720" y="41148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0  —  NORMAL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4622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Legitimate network traffic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48272" y="5093208"/>
            <a:ext cx="4892040" cy="96012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03720" y="520293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</a:rPr>
              <a:t>1  —  ATTACK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555040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Any of the 22+ attack categories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889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46304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"/>
            <a:ext cx="11064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</a:rPr>
              <a:t>System Workflow — Step by Step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29347389-294A-09F9-F839-930873CA4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711" y="804672"/>
            <a:ext cx="6665402" cy="60126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8895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46304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"/>
            <a:ext cx="11064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</a:rPr>
              <a:t>Data Preprocessing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86968"/>
            <a:ext cx="11457432" cy="1783080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86968"/>
            <a:ext cx="109728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08813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1F5F9"/>
                </a:solidFill>
              </a:rPr>
              <a:t>🏷️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99669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27101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Binary Label Conversion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1612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Before: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16128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"normal", "neptune", "portsweep", "smurf"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16367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After: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63677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0 = Normal Traffic   |   1 = Attack (any type)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1122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Balance: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11226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Normal: 67,343   |   Attack: 58,630  (training set)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52928"/>
            <a:ext cx="11457432" cy="1783080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2852928"/>
            <a:ext cx="109728" cy="1783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05409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1F5F9"/>
                </a:solidFill>
              </a:rPr>
              <a:t>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9626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STEP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23697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Categorical Feature Encoding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1272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Why?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12724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ML models require numeric input — cannot use raw 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36027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3 columns: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60273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protocol_type  ·  service  ·  flag  →  integers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0782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Method: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07822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sklearn LabelEncoder  ·  fitted on train + test combined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18888"/>
            <a:ext cx="11457432" cy="1783080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4818888"/>
            <a:ext cx="109728" cy="1783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502005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1F5F9"/>
                </a:solidFill>
              </a:rPr>
              <a:t>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9286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STEP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20293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Feature Scaling — StandardScaler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5093207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Why?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5093207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src_bytes = 0 – 1.3 billion  vs  duration = 0 – 58,329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55686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Method: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556869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StandardScaler: zero mean, unit variance for all 41 features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6044183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Result: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6044183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No single feature dominates the model due to its 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46304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"/>
            <a:ext cx="11064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</a:rPr>
              <a:t>Machine Learning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86968"/>
            <a:ext cx="3749039" cy="5559552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86968"/>
            <a:ext cx="3749039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1F5F9"/>
                </a:solidFill>
              </a:rP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9601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Logistic Regression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481328"/>
            <a:ext cx="320040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5361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82F6"/>
                </a:solidFill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01368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82F6"/>
                </a:solidFill>
              </a:rPr>
              <a:t>75.39%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33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Parameters: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07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max_iter = 1000  ·  random_state = 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015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Key Points: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12463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Fast baseline — trains in seconds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4281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Highly interpretable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7731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Works well with scaled features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06824" y="886968"/>
            <a:ext cx="3749039" cy="5559552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06824" y="886968"/>
            <a:ext cx="3749039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43984" y="9326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1F5F9"/>
                </a:solidFill>
              </a:rPr>
              <a:t>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01184" y="9601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Decision Tree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81144" y="1481328"/>
            <a:ext cx="320040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81144" y="15361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</a:rPr>
              <a:t>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1144" y="1801368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C3AED"/>
                </a:solidFill>
              </a:rPr>
              <a:t>76.34%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2633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Parameters: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2907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max_depth = 10  ·  random_state = 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5424" y="34015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Key Points: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5424" y="3712463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Easy to visualise &amp; 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5424" y="424281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Captures non-linear patterns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5424" y="47731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No scaling strictly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56448" y="850392"/>
            <a:ext cx="3931920" cy="5650992"/>
          </a:xfrm>
          <a:prstGeom prst="rect">
            <a:avLst/>
          </a:prstGeom>
          <a:solidFill>
            <a:srgbClr val="22C55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47888" y="886968"/>
            <a:ext cx="3749039" cy="5559552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47888" y="886968"/>
            <a:ext cx="3749039" cy="4754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85048" y="9326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1F5F9"/>
                </a:solidFill>
              </a:rPr>
              <a:t>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42248" y="9601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Random Forest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22208" y="1481328"/>
            <a:ext cx="320040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22208" y="15361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C55E"/>
                </a:solidFill>
              </a:rPr>
              <a:t>ACCURACY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22208" y="1801368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C55E"/>
                </a:solidFill>
              </a:rPr>
              <a:t>77.07%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6488" y="2633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Parameters: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6488" y="2907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n_estimators = 100  ·  n_jobs = -1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6488" y="34015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Key Points: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6488" y="3712463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BBF24"/>
                </a:solidFill>
              </a:rPr>
              <a:t>  Best accuracy — selected &amp; saved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76488" y="424281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Ensemble of 100 decision trees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76488" y="47731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Robust to noise &amp; overfitting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22208" y="5376672"/>
            <a:ext cx="3200400" cy="548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22208" y="54589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F5F9"/>
                </a:solidFill>
              </a:rPr>
              <a:t>BEST MODEL — SAVED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All models from scikit-learn (open source)  ·  Trained: 125,973 records  ·  Tested: 22,544 records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88952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46304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"/>
            <a:ext cx="11064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</a:rPr>
              <a:t>Results &amp; Visualisations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86968"/>
            <a:ext cx="5577840" cy="3977639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96926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MODEL COMPARISON — KDDTest+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99032"/>
            <a:ext cx="530352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435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4356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4356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10512"/>
            <a:ext cx="530352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19293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B82F6"/>
                </a:solidFill>
              </a:rPr>
              <a:t>Logistic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92938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75.39%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92938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B82F6"/>
                </a:solidFill>
              </a:rPr>
              <a:t>0.75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478024"/>
            <a:ext cx="530352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25968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</a:rPr>
              <a:t>Decision Tree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5968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76.34%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59689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C3AED"/>
                </a:solidFill>
              </a:rPr>
              <a:t>0.76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145536"/>
            <a:ext cx="5303520" cy="594360"/>
          </a:xfrm>
          <a:prstGeom prst="rect">
            <a:avLst/>
          </a:prstGeom>
          <a:solidFill>
            <a:srgbClr val="0D2E1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32644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Random Forest  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2644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77.07%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2644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0.77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041648"/>
            <a:ext cx="5577840" cy="2404872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4133087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CONFUSION MATRIX — Random Forest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459028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True Normal  → Predicted Normal: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4590288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9,433   (correct)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50292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True Normal  → Predicted Attack: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02920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278     (false alarm)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54681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True Attack  → Predicted Normal: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546811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4,892   (missed)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907023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True Attack  → Predicted Attack: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5907023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7,941   (correct)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5352" y="886968"/>
            <a:ext cx="5577840" cy="5559552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96926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6 CHARTS AUTO-GENERATED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1417320"/>
            <a:ext cx="530352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82512" y="1417320"/>
            <a:ext cx="91440" cy="7132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0" y="14721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attack_distribution.png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17647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Normal vs Attack count bar chart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2240280"/>
            <a:ext cx="530352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82512" y="2240280"/>
            <a:ext cx="91440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0" y="22951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protocol_distribution.png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25877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TCP / UDP / ICMP traffic breakdown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2512" y="3063240"/>
            <a:ext cx="530352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382512" y="3063240"/>
            <a:ext cx="91440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0" y="31181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heatmap.png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34107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Feature correlation (top 15 features)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82512" y="3886200"/>
            <a:ext cx="530352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382512" y="3886200"/>
            <a:ext cx="91440" cy="7132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0" y="3941063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confusion_matrix.png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42336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True vs Predicted — Random Forest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82512" y="4709160"/>
            <a:ext cx="530352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382512" y="4709160"/>
            <a:ext cx="91440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83680" y="47640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model_comparison.png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50566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Accuracy bar chart for all 3 models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82512" y="5532120"/>
            <a:ext cx="530352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382512" y="5532120"/>
            <a:ext cx="91440" cy="7132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583680" y="5586983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feature_importance.png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0" y="58795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Top 15 important features (RF)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</a:rPr>
              <a:t>⚠️  KDDTest+ contains novel attack types not seen in training — tests real-world generalisation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88952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46304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"/>
            <a:ext cx="11064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</a:rPr>
              <a:t>Live Prediction — Command-Line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86968"/>
            <a:ext cx="11457432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969264"/>
            <a:ext cx="11064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  &gt;   py main.py --predict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81912"/>
            <a:ext cx="5559552" cy="4892040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581912"/>
            <a:ext cx="5559552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3677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Sample A — Normal HTTP Traffic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INPUT VALUES: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3957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3957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TCP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8163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8163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HTTP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23697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src_bytes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23697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215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dst_bytes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657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45,076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0782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logged_in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0782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1  (Yes)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4988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serror_rate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4988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0.00  (no SYN errors)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239512"/>
            <a:ext cx="5102352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5330952"/>
            <a:ext cx="5102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C55E"/>
                </a:solidFill>
              </a:rPr>
              <a:t>NORMAL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779008"/>
            <a:ext cx="5102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Confidence: ~94%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91072" y="1581912"/>
            <a:ext cx="5559552" cy="4892040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91072" y="1581912"/>
            <a:ext cx="5559552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3952" y="163677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Sample B — DoS Neptune Attack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21031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INPUT VALUES: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4" y="23957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Protocol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23957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TCP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28163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28163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HTTP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323697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src_bytes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1" y="323697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0  (nothing sent)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4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dst_bytes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7031" y="3657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0  (no response)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7104" y="40782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serror_rate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57031" y="40782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1.00  (SYN flood!)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7104" y="44988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count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57031" y="44988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511  (max connections)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9672" y="5239512"/>
            <a:ext cx="5102352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19672" y="5330952"/>
            <a:ext cx="5102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</a:rPr>
              <a:t>ATTACK DETECTED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19672" y="5779008"/>
            <a:ext cx="5102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Confidence: ~99%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889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46304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"/>
            <a:ext cx="11064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</a:rPr>
              <a:t>Open Source Project Files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86968"/>
            <a:ext cx="3749039" cy="5559552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86968"/>
            <a:ext cx="3749039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1F5F9"/>
                </a:solidFill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9601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README.md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453896"/>
            <a:ext cx="338328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4904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B82F6"/>
                </a:solidFill>
              </a:rPr>
              <a:t>The front page of any open source 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965960"/>
            <a:ext cx="3383280" cy="61264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0756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&gt;  Explains what the project does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88336"/>
            <a:ext cx="3383280" cy="61264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7980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&gt;  Shows installation &amp; usage steps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10712"/>
            <a:ext cx="3383280" cy="61264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&gt;  Lists features and sample 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33087"/>
            <a:ext cx="3383280" cy="61264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2428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&gt;  Renders automatically on GitHub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55464"/>
            <a:ext cx="3383280" cy="61264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9651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&gt;  Without it — no one uses the code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06824" y="886968"/>
            <a:ext cx="3749039" cy="5559552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06824" y="886968"/>
            <a:ext cx="3749039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43984" y="9326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1F5F9"/>
                </a:solidFill>
              </a:rPr>
              <a:t>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01184" y="9601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requirements.txt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9704" y="1453896"/>
            <a:ext cx="338328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9432" y="14904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</a:rPr>
              <a:t>Guarantees reproducibility for everyone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9704" y="1965960"/>
            <a:ext cx="3383280" cy="61264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81144" y="20756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&gt;  Lists all 6 libraries + versions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9704" y="2688336"/>
            <a:ext cx="3383280" cy="61264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81144" y="27980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&gt;  pip install -r requirements.txt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9704" y="3410712"/>
            <a:ext cx="3383280" cy="61264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81144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&gt;  Recreates exact environment instantly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9704" y="4133087"/>
            <a:ext cx="3383280" cy="61264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81144" y="42428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&gt;  Eliminates 'works on my machine'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9704" y="4855464"/>
            <a:ext cx="3383280" cy="61264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81144" y="49651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&gt;  Core open source principle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47888" y="886968"/>
            <a:ext cx="3749039" cy="5559552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47888" y="886968"/>
            <a:ext cx="3749039" cy="4754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85048" y="9326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1F5F9"/>
                </a:solidFill>
              </a:rPr>
              <a:t>⚖️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42248" y="9601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LICENSE  (MIT)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30767" y="1453896"/>
            <a:ext cx="338328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40496" y="14904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2C55E"/>
                </a:solidFill>
              </a:rPr>
              <a:t>Legal permission to use the code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30767" y="1965960"/>
            <a:ext cx="3383280" cy="61264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22208" y="20756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&gt;  Without a license — unusable legally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30767" y="2688336"/>
            <a:ext cx="3383280" cy="61264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22208" y="27980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&gt;  MIT = most permissive license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30767" y="3410712"/>
            <a:ext cx="3383280" cy="61264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22208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&gt;  Anyone can use, copy, modify &amp; share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30767" y="4133087"/>
            <a:ext cx="3383280" cy="61264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522208" y="42428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&gt;  Only: keep the copyright notice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30767" y="4855464"/>
            <a:ext cx="3383280" cy="612648"/>
          </a:xfrm>
          <a:prstGeom prst="rect">
            <a:avLst/>
          </a:prstGeom>
          <a:solidFill>
            <a:srgbClr val="1E293B"/>
          </a:solidFill>
          <a:ln w="635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22208" y="49651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&gt;  Makes the project truly open source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8895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46304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"/>
            <a:ext cx="11064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</a:rPr>
              <a:t>Project Structure &amp; How to Run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86968"/>
            <a:ext cx="5897880" cy="5559552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960120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PROJECT FILE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89888"/>
            <a:ext cx="562356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300" b="1">
                <a:solidFill>
                  <a:srgbClr val="F1F5F9"/>
                </a:solidFill>
                <a:latin typeface="Courier New"/>
              </a:rPr>
              <a:t>NIDS-Project/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D3A50"/>
                </a:solidFill>
                <a:latin typeface="Courier New"/>
              </a:rPr>
              <a:t>  |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CBD5E1"/>
                </a:solidFill>
                <a:latin typeface="Courier New"/>
              </a:rPr>
              <a:t>  +-- main.py        &lt;- Entry point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CBD5E1"/>
                </a:solidFill>
                <a:latin typeface="Courier New"/>
              </a:rPr>
              <a:t>  +-- train.py       &lt;- Training + charts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CBD5E1"/>
                </a:solidFill>
                <a:latin typeface="Courier New"/>
              </a:rPr>
              <a:t>  +-- predict.py     &lt;- Prediction CLI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D3A50"/>
                </a:solidFill>
                <a:latin typeface="Courier New"/>
              </a:rPr>
              <a:t>  |</a:t>
            </a:r>
          </a:p>
          <a:p>
            <a:pPr>
              <a:spcBef>
                <a:spcPts val="100"/>
              </a:spcBef>
            </a:pPr>
            <a:r>
              <a:rPr sz="1200" b="1">
                <a:solidFill>
                  <a:srgbClr val="3B82F6"/>
                </a:solidFill>
                <a:latin typeface="Courier New"/>
              </a:rPr>
              <a:t>  +-- data/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94A3B8"/>
                </a:solidFill>
                <a:latin typeface="Courier New"/>
              </a:rPr>
              <a:t>  |   +-- KDDTrain+.txt  (auto-dl)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94A3B8"/>
                </a:solidFill>
                <a:latin typeface="Courier New"/>
              </a:rPr>
              <a:t>  |   +-- KDDTest+.txt   (auto-dl)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D3A50"/>
                </a:solidFill>
                <a:latin typeface="Courier New"/>
              </a:rPr>
              <a:t>  |</a:t>
            </a:r>
          </a:p>
          <a:p>
            <a:pPr>
              <a:spcBef>
                <a:spcPts val="100"/>
              </a:spcBef>
            </a:pPr>
            <a:r>
              <a:rPr sz="1200" b="1">
                <a:solidFill>
                  <a:srgbClr val="F59E0B"/>
                </a:solidFill>
                <a:latin typeface="Courier New"/>
              </a:rPr>
              <a:t>  +-- models/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94A3B8"/>
                </a:solidFill>
                <a:latin typeface="Courier New"/>
              </a:rPr>
              <a:t>  |   +-- best_model.pkl  (RF saved)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94A3B8"/>
                </a:solidFill>
                <a:latin typeface="Courier New"/>
              </a:rPr>
              <a:t>  |   +-- scaler.pkl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D3A50"/>
                </a:solidFill>
                <a:latin typeface="Courier New"/>
              </a:rPr>
              <a:t>  |</a:t>
            </a:r>
          </a:p>
          <a:p>
            <a:pPr>
              <a:spcBef>
                <a:spcPts val="100"/>
              </a:spcBef>
            </a:pPr>
            <a:r>
              <a:rPr sz="1200" b="1">
                <a:solidFill>
                  <a:srgbClr val="06B6D4"/>
                </a:solidFill>
                <a:latin typeface="Courier New"/>
              </a:rPr>
              <a:t>  +-- outputs/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94A3B8"/>
                </a:solidFill>
                <a:latin typeface="Courier New"/>
              </a:rPr>
              <a:t>  |   +-- attack_distribution.png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94A3B8"/>
                </a:solidFill>
                <a:latin typeface="Courier New"/>
              </a:rPr>
              <a:t>  |   +-- heatmap.png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94A3B8"/>
                </a:solidFill>
                <a:latin typeface="Courier New"/>
              </a:rPr>
              <a:t>  |   +-- ... (6 charts total)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D3A50"/>
                </a:solidFill>
                <a:latin typeface="Courier New"/>
              </a:rPr>
              <a:t>  |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2C55E"/>
                </a:solidFill>
                <a:latin typeface="Courier New"/>
              </a:rPr>
              <a:t>  +-- README.md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2C55E"/>
                </a:solidFill>
                <a:latin typeface="Courier New"/>
              </a:rPr>
              <a:t>  +-- requirements.txt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2C55E"/>
                </a:solidFill>
                <a:latin typeface="Courier New"/>
              </a:rPr>
              <a:t>  +-- LICENSE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65392" y="886968"/>
            <a:ext cx="5257800" cy="5559552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8272" y="960120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HOW TO RUN  (2 commands)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02552" y="1444752"/>
            <a:ext cx="4956048" cy="1097280"/>
          </a:xfrm>
          <a:prstGeom prst="rect">
            <a:avLst/>
          </a:prstGeom>
          <a:solidFill>
            <a:srgbClr val="1E293B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39712" y="1517904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1  Install dependencies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39712" y="1865376"/>
            <a:ext cx="4663440" cy="329184"/>
          </a:xfrm>
          <a:prstGeom prst="rect">
            <a:avLst/>
          </a:prstGeom>
          <a:solidFill>
            <a:srgbClr val="161C2E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67728" y="1901952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pip install -r requirements.txt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2249424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One-time setup — installs all 6 libraries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02552" y="2660904"/>
            <a:ext cx="4956048" cy="1097280"/>
          </a:xfrm>
          <a:prstGeom prst="rect">
            <a:avLst/>
          </a:prstGeom>
          <a:solidFill>
            <a:srgbClr val="1E293B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39712" y="2734056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2  Train models + generate charts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39712" y="3081528"/>
            <a:ext cx="4663440" cy="329184"/>
          </a:xfrm>
          <a:prstGeom prst="rect">
            <a:avLst/>
          </a:prstGeom>
          <a:solidFill>
            <a:srgbClr val="161C2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67728" y="3118104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py main.py --train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3465576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Downloads data, trains 3 models, saves 6 charts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02552" y="3877056"/>
            <a:ext cx="4956048" cy="1097280"/>
          </a:xfrm>
          <a:prstGeom prst="rect">
            <a:avLst/>
          </a:prstGeom>
          <a:solidFill>
            <a:srgbClr val="1E293B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39712" y="3950208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3  Run live predictions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39712" y="4297680"/>
            <a:ext cx="4663440" cy="329184"/>
          </a:xfrm>
          <a:prstGeom prst="rect">
            <a:avLst/>
          </a:prstGeom>
          <a:solidFill>
            <a:srgbClr val="161C2E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67728" y="4334256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py main.py --predict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4681728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Interactive CLI — demo samples or custom input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02552" y="5093208"/>
            <a:ext cx="4956048" cy="1097280"/>
          </a:xfrm>
          <a:prstGeom prst="rect">
            <a:avLst/>
          </a:prstGeom>
          <a:solidFill>
            <a:srgbClr val="1E293B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39712" y="5166360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4  Or train + predict together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39712" y="5513832"/>
            <a:ext cx="4663440" cy="329184"/>
          </a:xfrm>
          <a:prstGeom prst="rect">
            <a:avLst/>
          </a:prstGeom>
          <a:solidFill>
            <a:srgbClr val="161C2E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67728" y="5550408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py main.py --all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5897880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Full pipeline in one single command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68096"/>
            <a:ext cx="12188952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46304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"/>
            <a:ext cx="11064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</a:rPr>
              <a:t>Summary &amp; 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86968"/>
            <a:ext cx="2770632" cy="1325880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886968"/>
            <a:ext cx="2770632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005840"/>
            <a:ext cx="2441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</a:rPr>
              <a:t>125,973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600200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Records Trained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9272" y="886968"/>
            <a:ext cx="2770632" cy="1325880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19272" y="886968"/>
            <a:ext cx="2770632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83864" y="1005840"/>
            <a:ext cx="2441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C3AED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1600200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ML Models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4" y="886968"/>
            <a:ext cx="2770632" cy="1325880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72784" y="886968"/>
            <a:ext cx="2770632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7376" y="1005840"/>
            <a:ext cx="2441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2C55E"/>
                </a:solidFill>
              </a:rPr>
              <a:t>77.07%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1600200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Best Accuracy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26296" y="886968"/>
            <a:ext cx="2770632" cy="1325880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26296" y="886968"/>
            <a:ext cx="2770632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90888" y="1005840"/>
            <a:ext cx="2441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1600200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Charts Made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331720"/>
            <a:ext cx="5577840" cy="3931920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2331720"/>
            <a:ext cx="5577840" cy="4389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23865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WHAT WAS BUILT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880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BD5E1"/>
                </a:solidFill>
              </a:rPr>
              <a:t>  &gt;  Complete Python ML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136391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     end-to-end, fully runnable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429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BD5E1"/>
                </a:solidFill>
              </a:rPr>
              <a:t>  &gt;  NSL-KDD data auto-downloaded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6850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     no manual setup needed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977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BD5E1"/>
                </a:solidFill>
              </a:rPr>
              <a:t>  &gt;  3 classifiers trained &amp; compared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23367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     LR  ·  DT  ·  RF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52627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BD5E1"/>
                </a:solidFill>
              </a:rPr>
              <a:t>  &gt;  Best model saved as .pkl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78231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     reusable anytime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074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BD5E1"/>
                </a:solidFill>
              </a:rPr>
              <a:t>  &gt;  Interactive prediction CLI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33095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     demo + custom input mode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623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BD5E1"/>
                </a:solidFill>
              </a:rPr>
              <a:t>  &gt;  Full open source documentation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87959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     README  ·  LICENSE  ·  requirements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45352" y="2331720"/>
            <a:ext cx="5577840" cy="1920240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45352" y="2331720"/>
            <a:ext cx="5577840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46520" y="23865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WHAT I LEARNED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28803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-  End-to-end ML pipeline in Python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321868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-  Importance of preprocessing (encoding + scaling)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3557015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-  Evaluating &amp; comparing multiple models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389534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-  Open source best practices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45352" y="4370832"/>
            <a:ext cx="5577840" cy="1892807"/>
          </a:xfrm>
          <a:prstGeom prst="rect">
            <a:avLst/>
          </a:prstGeom>
          <a:solidFill>
            <a:srgbClr val="161C2E"/>
          </a:solidFill>
          <a:ln w="9525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45352" y="4370832"/>
            <a:ext cx="5577840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46520" y="44256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FUTURE IMPROVEMENTS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2512" y="491032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-&gt;  Multi-class attack classification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82512" y="532180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-&gt;  Deep learning / Neural Networks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2512" y="573328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  -&gt;  Real-time dashboard with Streamlit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6144768"/>
            <a:ext cx="11457432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8640" y="6236208"/>
            <a:ext cx="110916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F1F5F9"/>
                </a:solidFill>
              </a:rPr>
              <a:t>Thank You, Feel Free To Ask Any Questions!</a:t>
            </a:r>
            <a:endParaRPr sz="1400" b="1" i="0" dirty="0">
              <a:solidFill>
                <a:srgbClr val="F1F5F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1429</Words>
  <Application>Microsoft Office PowerPoint</Application>
  <PresentationFormat>Custom</PresentationFormat>
  <Paragraphs>329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computer science and engineeringSourav Md Shariful Islam</cp:lastModifiedBy>
  <cp:revision>2</cp:revision>
  <dcterms:created xsi:type="dcterms:W3CDTF">2013-01-27T09:14:16Z</dcterms:created>
  <dcterms:modified xsi:type="dcterms:W3CDTF">2026-06-13T21:26:36Z</dcterms:modified>
  <cp:category/>
</cp:coreProperties>
</file>